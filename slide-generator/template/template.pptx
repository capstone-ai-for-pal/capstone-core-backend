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2" r:id="rId3"/>
    <p:sldId id="270" r:id="rId4"/>
    <p:sldId id="273" r:id="rId5"/>
    <p:sldId id="275" r:id="rId6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4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0AC4E2-4DCE-0483-2C48-4B4E7FBF87EC}" v="391" dt="2026-04-12T09:50:21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/>
          <p:cNvSpPr/>
          <p:nvPr/>
        </p:nvSpPr>
        <p:spPr>
          <a:xfrm>
            <a:off x="666720" y="3695400"/>
            <a:ext cx="10858680" cy="19440"/>
          </a:xfrm>
          <a:custGeom>
            <a:avLst/>
            <a:gdLst/>
            <a:ahLst/>
            <a:cxnLst/>
            <a:rect l="0" t="0" r="r" b="b"/>
            <a:pathLst>
              <a:path w="30163" h="54">
                <a:moveTo>
                  <a:pt x="0" y="0"/>
                </a:moveTo>
                <a:lnTo>
                  <a:pt x="30163" y="0"/>
                </a:lnTo>
                <a:lnTo>
                  <a:pt x="3016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8EA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6720" y="3118320"/>
            <a:ext cx="10811880" cy="49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3000" b="1" strike="noStrike" spc="-1">
                <a:solidFill>
                  <a:srgbClr val="1A73E8"/>
                </a:solidFill>
                <a:latin typeface="Segoe UI"/>
                <a:ea typeface="NotoSans-Semi"/>
                <a:cs typeface="Segoe UI"/>
              </a:rPr>
              <a:t>Lesson: Information Architecture and Sitemap Construction</a:t>
            </a:r>
            <a:endParaRPr lang="en-US" sz="3000" b="0" strike="noStrike" spc="-1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800" b="0" strike="noStrike" spc="-1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lang="en-US" sz="18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8995-2800-C329-DC60-3AE50B85038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084062"/>
            <a:ext cx="10972080" cy="3768480"/>
          </a:xfrm>
        </p:spPr>
        <p:txBody>
          <a:bodyPr lIns="0" tIns="0" rIns="0" bIns="0" anchor="t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User-centered problem-solving approach</a:t>
            </a:r>
            <a:endParaRPr lang="en-US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Non-linear and iterative process</a:t>
            </a: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Aims for innovative, user-validated solutions</a:t>
            </a: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Aims for innovative, user-validated solutions</a:t>
            </a: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Aims for innovative, user-validated solutions</a:t>
            </a: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571500" indent="-5715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dirty="0">
              <a:solidFill>
                <a:srgbClr val="3C4043"/>
              </a:solidFill>
              <a:latin typeface="Segoe UI"/>
              <a:cs typeface="Segoe U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C2CBBF-BF9F-359E-3F38-546B5CA1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891"/>
            <a:ext cx="10972080" cy="10846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>
                <a:solidFill>
                  <a:srgbClr val="1A73E8"/>
                </a:solidFill>
                <a:latin typeface="Segoe UI"/>
                <a:ea typeface="+mj-lt"/>
                <a:cs typeface="Segoe UI"/>
              </a:rPr>
              <a:t>Introduction to Design Thinking</a:t>
            </a:r>
            <a:endParaRPr lang="en-US" sz="2800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BE50333-46C4-AEFE-C946-586F7A32B2D6}"/>
              </a:ext>
            </a:extLst>
          </p:cNvPr>
          <p:cNvSpPr/>
          <p:nvPr/>
        </p:nvSpPr>
        <p:spPr>
          <a:xfrm>
            <a:off x="611302" y="848411"/>
            <a:ext cx="10858680" cy="19440"/>
          </a:xfrm>
          <a:custGeom>
            <a:avLst/>
            <a:gdLst/>
            <a:ahLst/>
            <a:cxnLst/>
            <a:rect l="0" t="0" r="r" b="b"/>
            <a:pathLst>
              <a:path w="30163" h="54">
                <a:moveTo>
                  <a:pt x="0" y="0"/>
                </a:moveTo>
                <a:lnTo>
                  <a:pt x="30163" y="0"/>
                </a:lnTo>
                <a:lnTo>
                  <a:pt x="3016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8EA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0230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6925-249D-5FCC-000F-543D8D8D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891"/>
            <a:ext cx="10972080" cy="10846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>
                <a:solidFill>
                  <a:srgbClr val="1A73E8"/>
                </a:solidFill>
                <a:latin typeface="Segoe UI"/>
                <a:ea typeface="+mj-lt"/>
                <a:cs typeface="Segoe UI"/>
              </a:rPr>
              <a:t>Introduction to Design Thinking</a:t>
            </a:r>
            <a:endParaRPr lang="en-US" sz="2800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BE970-3CA9-E0A2-20CB-03376A74282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093827"/>
            <a:ext cx="10972080" cy="3768480"/>
          </a:xfrm>
        </p:spPr>
        <p:txBody>
          <a:bodyPr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User-centered problem-solving approach</a:t>
            </a: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Non-linear and iterative process</a:t>
            </a: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Aims for innovative, user-validated solutions</a:t>
            </a: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067E49B-B479-C1A4-B60A-1E45E7948AB6}"/>
              </a:ext>
            </a:extLst>
          </p:cNvPr>
          <p:cNvSpPr/>
          <p:nvPr/>
        </p:nvSpPr>
        <p:spPr>
          <a:xfrm>
            <a:off x="611302" y="848411"/>
            <a:ext cx="10858680" cy="19440"/>
          </a:xfrm>
          <a:custGeom>
            <a:avLst/>
            <a:gdLst/>
            <a:ahLst/>
            <a:cxnLst/>
            <a:rect l="0" t="0" r="r" b="b"/>
            <a:pathLst>
              <a:path w="30163" h="54">
                <a:moveTo>
                  <a:pt x="0" y="0"/>
                </a:moveTo>
                <a:lnTo>
                  <a:pt x="30163" y="0"/>
                </a:lnTo>
                <a:lnTo>
                  <a:pt x="3016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8EA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" name="Picture 6" descr="A colorful circle with arrows and people around it&#10;&#10;AI-generated content may be incorrect.">
            <a:extLst>
              <a:ext uri="{FF2B5EF4-FFF2-40B4-BE49-F238E27FC236}">
                <a16:creationId xmlns:a16="http://schemas.microsoft.com/office/drawing/2014/main" id="{56EE1646-4C34-C522-8499-796872E8EC8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095640" y="2786465"/>
            <a:ext cx="6000480" cy="3428640"/>
          </a:xfrm>
          <a:prstGeom prst="rect">
            <a:avLst/>
          </a:prstGeom>
          <a:ln w="0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7D1907-3835-C07C-7C42-D2C301E25A5C}"/>
              </a:ext>
            </a:extLst>
          </p:cNvPr>
          <p:cNvSpPr txBox="1"/>
          <p:nvPr/>
        </p:nvSpPr>
        <p:spPr>
          <a:xfrm>
            <a:off x="3463639" y="6213765"/>
            <a:ext cx="52647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5F6368"/>
                </a:solidFill>
                <a:latin typeface="Segoe UI"/>
                <a:ea typeface="+mn-lt"/>
                <a:cs typeface="Segoe UI"/>
              </a:rPr>
              <a:t>The Empathize phase involves conducting research to understand users' experiences, needs, and pain points.</a:t>
            </a:r>
            <a:endParaRPr lang="en-US" sz="1400"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72262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E77DB-0754-BBBF-F7E0-B69D0AC4BC4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084063"/>
            <a:ext cx="10972080" cy="3768480"/>
          </a:xfrm>
        </p:spPr>
        <p:txBody>
          <a:bodyPr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ea typeface="+mn-lt"/>
                <a:cs typeface="Segoe UI"/>
              </a:rPr>
              <a:t>Deeply understand your users</a:t>
            </a:r>
            <a:endParaRPr lang="en-US" sz="2400">
              <a:latin typeface="Segoe UI"/>
              <a:ea typeface="+mn-lt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ea typeface="+mn-lt"/>
                <a:cs typeface="Segoe UI"/>
              </a:rPr>
              <a:t>Observe, engage, and immerse</a:t>
            </a: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ea typeface="+mn-lt"/>
                <a:cs typeface="Segoe UI"/>
              </a:rPr>
              <a:t>Uncover unspoken needs and motivations</a:t>
            </a:r>
            <a:endParaRPr lang="en-US" sz="2400">
              <a:latin typeface="Segoe UI"/>
              <a:ea typeface="+mn-lt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solidFill>
                <a:srgbClr val="3C4043"/>
              </a:solidFill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endParaRPr lang="en-US" sz="2400" dirty="0">
              <a:latin typeface="Segoe UI"/>
              <a:cs typeface="Segoe U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C2ABFE-6A85-4BCF-8DF3-AFDA569F9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891"/>
            <a:ext cx="10972080" cy="10846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>
                <a:solidFill>
                  <a:srgbClr val="1A73E8"/>
                </a:solidFill>
                <a:latin typeface="Segoe UI"/>
                <a:ea typeface="+mj-lt"/>
                <a:cs typeface="Segoe UI"/>
              </a:rPr>
              <a:t>Introduction to Design Thinking</a:t>
            </a:r>
            <a:endParaRPr lang="en-US" sz="2800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29DE1DD-6430-84A8-0772-6B8E617F00A6}"/>
              </a:ext>
            </a:extLst>
          </p:cNvPr>
          <p:cNvSpPr/>
          <p:nvPr/>
        </p:nvSpPr>
        <p:spPr>
          <a:xfrm>
            <a:off x="611302" y="848411"/>
            <a:ext cx="10858680" cy="19440"/>
          </a:xfrm>
          <a:custGeom>
            <a:avLst/>
            <a:gdLst/>
            <a:ahLst/>
            <a:cxnLst/>
            <a:rect l="0" t="0" r="r" b="b"/>
            <a:pathLst>
              <a:path w="30163" h="54">
                <a:moveTo>
                  <a:pt x="0" y="0"/>
                </a:moveTo>
                <a:lnTo>
                  <a:pt x="30163" y="0"/>
                </a:lnTo>
                <a:lnTo>
                  <a:pt x="3016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8EA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" name="Picture 8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19889D07-3874-DB87-9B7D-DFBB5EC427D9}"/>
              </a:ext>
            </a:extLst>
          </p:cNvPr>
          <p:cNvPicPr/>
          <p:nvPr/>
        </p:nvPicPr>
        <p:blipFill>
          <a:blip r:embed="rId2"/>
          <a:srcRect l="-794" t="15245" b="14786"/>
          <a:stretch>
            <a:fillRect/>
          </a:stretch>
        </p:blipFill>
        <p:spPr>
          <a:xfrm>
            <a:off x="625157" y="2995986"/>
            <a:ext cx="5279936" cy="2672296"/>
          </a:xfrm>
          <a:prstGeom prst="rect">
            <a:avLst/>
          </a:prstGeom>
          <a:ln w="0">
            <a:noFill/>
          </a:ln>
        </p:spPr>
      </p:pic>
      <p:pic>
        <p:nvPicPr>
          <p:cNvPr id="13" name="Picture 12" descr="A whiteboard with sticky notes&#10;&#10;AI-generated content may be incorrect.">
            <a:extLst>
              <a:ext uri="{FF2B5EF4-FFF2-40B4-BE49-F238E27FC236}">
                <a16:creationId xmlns:a16="http://schemas.microsoft.com/office/drawing/2014/main" id="{C2AD0912-BFA2-C6EF-3CD3-FBE686BC7D4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286320" y="2993335"/>
            <a:ext cx="5238360" cy="2669760"/>
          </a:xfrm>
          <a:prstGeom prst="rect">
            <a:avLst/>
          </a:prstGeom>
          <a:ln w="0">
            <a:noFill/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51BC84B-4F56-8BA8-1E8C-3AF699544E5B}"/>
              </a:ext>
            </a:extLst>
          </p:cNvPr>
          <p:cNvSpPr txBox="1"/>
          <p:nvPr/>
        </p:nvSpPr>
        <p:spPr>
          <a:xfrm>
            <a:off x="630384" y="5839692"/>
            <a:ext cx="526472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5F6368"/>
                </a:solidFill>
                <a:latin typeface="Segoe UI"/>
                <a:ea typeface="+mn-lt"/>
                <a:cs typeface="Segoe UI"/>
              </a:rPr>
              <a:t>The Empathize phase involves conducting research to understand users' experiences, needs, and pain points.</a:t>
            </a:r>
            <a:endParaRPr lang="en-US" sz="1400">
              <a:latin typeface="Segoe UI"/>
              <a:ea typeface="+mn-lt"/>
              <a:cs typeface="Segoe U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890189-E7B9-F519-5688-3F863F679E10}"/>
              </a:ext>
            </a:extLst>
          </p:cNvPr>
          <p:cNvSpPr txBox="1"/>
          <p:nvPr/>
        </p:nvSpPr>
        <p:spPr>
          <a:xfrm>
            <a:off x="6289965" y="5839690"/>
            <a:ext cx="525086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solidFill>
                  <a:srgbClr val="5F6368"/>
                </a:solidFill>
                <a:latin typeface="Segoe UI"/>
                <a:ea typeface="+mn-lt"/>
                <a:cs typeface="Segoe UI"/>
              </a:rPr>
              <a:t>Empathy maps and user personas help consolidate observations into a clear understanding of the target user.</a:t>
            </a:r>
            <a:endParaRPr lang="en-US" sz="1400" dirty="0">
              <a:solidFill>
                <a:srgbClr val="000000"/>
              </a:solidFill>
              <a:latin typeface="Segoe UI"/>
              <a:ea typeface="+mn-lt"/>
              <a:cs typeface="Segoe UI"/>
            </a:endParaRPr>
          </a:p>
          <a:p>
            <a:pPr algn="ctr"/>
            <a:endParaRPr lang="en-US" sz="1400" dirty="0">
              <a:solidFill>
                <a:srgbClr val="5F6368"/>
              </a:solidFill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58482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08A7-3AD4-A88E-E23F-456EF2618D6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09480" y="1084063"/>
            <a:ext cx="10972080" cy="3768480"/>
          </a:xfrm>
        </p:spPr>
        <p:txBody>
          <a:bodyPr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Deeply understand your users</a:t>
            </a:r>
            <a:endParaRPr lang="en-US" sz="2400"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Observe, engage, and immerse</a:t>
            </a:r>
            <a:endParaRPr lang="en-US" sz="2400">
              <a:latin typeface="Segoe UI"/>
              <a:cs typeface="Segoe UI"/>
            </a:endParaRPr>
          </a:p>
          <a:p>
            <a:pPr marL="342900" indent="-342900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2400">
                <a:solidFill>
                  <a:srgbClr val="3C4043"/>
                </a:solidFill>
                <a:latin typeface="Segoe UI"/>
                <a:cs typeface="Segoe UI"/>
              </a:rPr>
              <a:t>Uncover unspoken needs and motivations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519908-5F96-7112-2FDB-F697BE05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891"/>
            <a:ext cx="10972080" cy="108468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>
                <a:solidFill>
                  <a:srgbClr val="1A73E8"/>
                </a:solidFill>
                <a:latin typeface="Segoe UI"/>
                <a:ea typeface="+mj-lt"/>
                <a:cs typeface="Segoe UI"/>
              </a:rPr>
              <a:t>Introduction to Design Thinking</a:t>
            </a:r>
            <a:endParaRPr lang="en-US" sz="2800">
              <a:solidFill>
                <a:srgbClr val="000000"/>
              </a:solidFill>
              <a:latin typeface="Segoe UI"/>
              <a:ea typeface="+mj-lt"/>
              <a:cs typeface="Segoe UI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1B20E10-01B1-122B-DF00-C192842DC3E6}"/>
              </a:ext>
            </a:extLst>
          </p:cNvPr>
          <p:cNvSpPr/>
          <p:nvPr/>
        </p:nvSpPr>
        <p:spPr>
          <a:xfrm>
            <a:off x="611302" y="848411"/>
            <a:ext cx="10858680" cy="19440"/>
          </a:xfrm>
          <a:custGeom>
            <a:avLst/>
            <a:gdLst/>
            <a:ahLst/>
            <a:cxnLst/>
            <a:rect l="0" t="0" r="r" b="b"/>
            <a:pathLst>
              <a:path w="30163" h="54">
                <a:moveTo>
                  <a:pt x="0" y="0"/>
                </a:moveTo>
                <a:lnTo>
                  <a:pt x="30163" y="0"/>
                </a:lnTo>
                <a:lnTo>
                  <a:pt x="3016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8EAE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" name="Picture 9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3564C2C3-5F0E-5933-9E55-627F37DC41D6}"/>
              </a:ext>
            </a:extLst>
          </p:cNvPr>
          <p:cNvPicPr/>
          <p:nvPr/>
        </p:nvPicPr>
        <p:blipFill>
          <a:blip r:embed="rId2"/>
          <a:srcRect l="-794" t="15245" b="14786"/>
          <a:stretch>
            <a:fillRect/>
          </a:stretch>
        </p:blipFill>
        <p:spPr>
          <a:xfrm>
            <a:off x="611302" y="2968277"/>
            <a:ext cx="3118628" cy="2679223"/>
          </a:xfrm>
          <a:prstGeom prst="rect">
            <a:avLst/>
          </a:prstGeom>
          <a:ln w="0"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99EB0D-E920-1FE4-5F6E-07F1DE49DE04}"/>
              </a:ext>
            </a:extLst>
          </p:cNvPr>
          <p:cNvSpPr txBox="1"/>
          <p:nvPr/>
        </p:nvSpPr>
        <p:spPr>
          <a:xfrm>
            <a:off x="512620" y="5728856"/>
            <a:ext cx="33112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5F6368"/>
                </a:solidFill>
                <a:latin typeface="Segoe UI"/>
                <a:ea typeface="+mn-lt"/>
                <a:cs typeface="Segoe UI"/>
              </a:rPr>
              <a:t>The Empathize phase involves conducting research to understand users' experiences, needs, and pain points.</a:t>
            </a:r>
            <a:endParaRPr lang="en-US" sz="1400">
              <a:latin typeface="Segoe UI"/>
              <a:ea typeface="+mn-lt"/>
              <a:cs typeface="Segoe UI"/>
            </a:endParaRPr>
          </a:p>
        </p:txBody>
      </p:sp>
      <p:pic>
        <p:nvPicPr>
          <p:cNvPr id="17" name="Picture 16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5CF3E902-B28A-C638-E12E-633AF00A1F1D}"/>
              </a:ext>
            </a:extLst>
          </p:cNvPr>
          <p:cNvPicPr/>
          <p:nvPr/>
        </p:nvPicPr>
        <p:blipFill>
          <a:blip r:embed="rId2"/>
          <a:srcRect l="-794" t="15245" b="14786"/>
          <a:stretch>
            <a:fillRect/>
          </a:stretch>
        </p:blipFill>
        <p:spPr>
          <a:xfrm>
            <a:off x="4539065" y="2968276"/>
            <a:ext cx="3118628" cy="2679223"/>
          </a:xfrm>
          <a:prstGeom prst="rect">
            <a:avLst/>
          </a:prstGeom>
          <a:ln w="0">
            <a:noFill/>
          </a:ln>
        </p:spPr>
      </p:pic>
      <p:pic>
        <p:nvPicPr>
          <p:cNvPr id="18" name="Picture 17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342CDC2F-D07A-212A-7690-047AFC259E2A}"/>
              </a:ext>
            </a:extLst>
          </p:cNvPr>
          <p:cNvPicPr/>
          <p:nvPr/>
        </p:nvPicPr>
        <p:blipFill>
          <a:blip r:embed="rId2"/>
          <a:srcRect l="-794" t="15245" b="14786"/>
          <a:stretch>
            <a:fillRect/>
          </a:stretch>
        </p:blipFill>
        <p:spPr>
          <a:xfrm>
            <a:off x="8466829" y="2968277"/>
            <a:ext cx="3118628" cy="2679223"/>
          </a:xfrm>
          <a:prstGeom prst="rect">
            <a:avLst/>
          </a:prstGeom>
          <a:ln w="0">
            <a:noFill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A24BCE-19C5-DFFC-487C-DBBB780BC341}"/>
              </a:ext>
            </a:extLst>
          </p:cNvPr>
          <p:cNvSpPr txBox="1"/>
          <p:nvPr/>
        </p:nvSpPr>
        <p:spPr>
          <a:xfrm>
            <a:off x="4440383" y="5728855"/>
            <a:ext cx="33112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5F6368"/>
                </a:solidFill>
                <a:latin typeface="Segoe UI"/>
                <a:ea typeface="+mn-lt"/>
                <a:cs typeface="Segoe UI"/>
              </a:rPr>
              <a:t>The Empathize phase involves conducting research to understand users' experiences, needs, and pain points.</a:t>
            </a:r>
            <a:endParaRPr lang="en-US" sz="1400">
              <a:latin typeface="Segoe UI"/>
              <a:ea typeface="+mn-lt"/>
              <a:cs typeface="Segoe U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2C794C-822F-BF1C-17BF-5B78408BF3B7}"/>
              </a:ext>
            </a:extLst>
          </p:cNvPr>
          <p:cNvSpPr txBox="1"/>
          <p:nvPr/>
        </p:nvSpPr>
        <p:spPr>
          <a:xfrm>
            <a:off x="8368147" y="5728856"/>
            <a:ext cx="331123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5F6368"/>
                </a:solidFill>
                <a:latin typeface="Segoe UI"/>
                <a:ea typeface="+mn-lt"/>
                <a:cs typeface="Segoe UI"/>
              </a:rPr>
              <a:t>The Empathize phase involves conducting research to understand users' experiences, needs, and pain points.</a:t>
            </a:r>
            <a:endParaRPr lang="en-US" sz="1400">
              <a:latin typeface="Segoe UI"/>
              <a:ea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87404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Introduction to Design Thinking</vt:lpstr>
      <vt:lpstr>Introduction to Design Thinking</vt:lpstr>
      <vt:lpstr>Introduction to Design Thinking</vt:lpstr>
      <vt:lpstr>Introduction to Design Thinking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147</cp:revision>
  <dcterms:modified xsi:type="dcterms:W3CDTF">2026-04-12T09:50:30Z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